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59" r:id="rId6"/>
    <p:sldId id="264" r:id="rId7"/>
    <p:sldId id="260" r:id="rId8"/>
    <p:sldId id="265" r:id="rId9"/>
    <p:sldId id="263"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AFC1"/>
    <a:srgbClr val="326D7B"/>
    <a:srgbClr val="316C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82986-C07A-D5BE-4A6E-9DD714728A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48F8A0-D552-393F-EF30-851975B50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C45DF9-0D2B-C07E-798D-80D3B6DD62B8}"/>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5" name="Footer Placeholder 4">
            <a:extLst>
              <a:ext uri="{FF2B5EF4-FFF2-40B4-BE49-F238E27FC236}">
                <a16:creationId xmlns:a16="http://schemas.microsoft.com/office/drawing/2014/main" id="{71F0282D-96ED-F1FA-D1D9-B5DC645554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B03257-F714-E69F-6565-C1CC6E3D1D53}"/>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1676508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F758-2D07-A53F-ACD6-4256D73E23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24DDFC-3120-C4F0-F25E-6BD7F294E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2F8A0D-6A5D-9C32-1565-B0DC624137B0}"/>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5" name="Footer Placeholder 4">
            <a:extLst>
              <a:ext uri="{FF2B5EF4-FFF2-40B4-BE49-F238E27FC236}">
                <a16:creationId xmlns:a16="http://schemas.microsoft.com/office/drawing/2014/main" id="{6E38D83F-EFE0-4C92-707F-D8E75DC523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65CF9A-13C1-A3B3-D7AF-F01163B578F0}"/>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1149188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FD25-60D5-896A-F25F-12C0EFD87C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1F7F0E-CDA4-872D-2181-5D9116959E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F2ADE6-4D58-E932-DB74-CB986F156E10}"/>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5" name="Footer Placeholder 4">
            <a:extLst>
              <a:ext uri="{FF2B5EF4-FFF2-40B4-BE49-F238E27FC236}">
                <a16:creationId xmlns:a16="http://schemas.microsoft.com/office/drawing/2014/main" id="{47E4C5CB-F9DF-CC89-9BEA-EEB803AD26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4A6DF-F0A6-673E-9D2C-23F3181F8CA3}"/>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339349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FB7A-C96B-E8D7-4626-B1D7C56C9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00D3B4-0981-D03D-E470-8CB0DE394E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E086F4-AD76-62CC-9A05-AFC16E2D59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A8004E-9A7E-2757-8CB4-7316E145BA0E}"/>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6" name="Footer Placeholder 5">
            <a:extLst>
              <a:ext uri="{FF2B5EF4-FFF2-40B4-BE49-F238E27FC236}">
                <a16:creationId xmlns:a16="http://schemas.microsoft.com/office/drawing/2014/main" id="{E13DA1FF-9758-8B83-25CA-932F8EF441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4A95A8-CEA2-635B-C340-C519596FE15A}"/>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184173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3D530-0EEE-6A76-22BD-7EB7037DF1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3274CE-1542-FEB9-F374-453407BEEF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442ADA-91D0-3384-84EC-FC8E9708AE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76BF7F-6FF5-8102-B241-2F2C1998FB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BB35DE-FD0F-9FC2-B2AB-0C078CD206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8EC8FD-18C9-5DE6-5902-E38542114424}"/>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8" name="Footer Placeholder 7">
            <a:extLst>
              <a:ext uri="{FF2B5EF4-FFF2-40B4-BE49-F238E27FC236}">
                <a16:creationId xmlns:a16="http://schemas.microsoft.com/office/drawing/2014/main" id="{E8518F80-D9F4-805A-A99E-A1FAEB49A6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D967E0-AAF4-FE0B-1759-8396350EB46A}"/>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3672632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FA55-6704-69FC-FACE-0A2A06D137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89D2AD-C62F-CD7E-250B-CBCF12A75F44}"/>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4" name="Footer Placeholder 3">
            <a:extLst>
              <a:ext uri="{FF2B5EF4-FFF2-40B4-BE49-F238E27FC236}">
                <a16:creationId xmlns:a16="http://schemas.microsoft.com/office/drawing/2014/main" id="{572533A9-76FA-D228-95C8-995501F5A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E552C84-E9FE-FB70-06F4-A0C3C81A9C66}"/>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274838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7BFEC9-717D-1AB6-AB7B-3826FD4CF087}"/>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3" name="Footer Placeholder 2">
            <a:extLst>
              <a:ext uri="{FF2B5EF4-FFF2-40B4-BE49-F238E27FC236}">
                <a16:creationId xmlns:a16="http://schemas.microsoft.com/office/drawing/2014/main" id="{C8B1F7A1-6063-4528-7330-B2C817CA13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F7C211-1B37-38DE-32B3-9EC2D3022931}"/>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1538956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FE88-6345-77BD-77B5-60A297552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E30F7F-2F94-096C-D16C-B5AD87713D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3AB8C3-6AC8-26E4-AE14-0114DEAF1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9AFDD-F893-EDFE-95D0-60BAF91685A5}"/>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6" name="Footer Placeholder 5">
            <a:extLst>
              <a:ext uri="{FF2B5EF4-FFF2-40B4-BE49-F238E27FC236}">
                <a16:creationId xmlns:a16="http://schemas.microsoft.com/office/drawing/2014/main" id="{1576BF21-208F-5E6D-5A1B-1FC842C0CA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D234A4-92F2-ED97-1F00-4B1680EBA1C1}"/>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3231910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7E64D-3086-65BA-A5B0-B5F4549EB0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88333A-4E0C-0AAC-4F40-9F44183A92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91FD734-BE74-1ECF-BEEF-863B281D8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2501D9-97A6-F83F-5410-8848DB49F915}"/>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6" name="Footer Placeholder 5">
            <a:extLst>
              <a:ext uri="{FF2B5EF4-FFF2-40B4-BE49-F238E27FC236}">
                <a16:creationId xmlns:a16="http://schemas.microsoft.com/office/drawing/2014/main" id="{19CBD55C-F3DC-CCD2-4D08-152C785DB6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208511-1ADF-114A-3F25-6AD050DFEB6B}"/>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320528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27EA3-EFC7-826E-7DF0-1D7BDCA3A4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52ACF5-A23C-DF00-423E-8349680B02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00AAE-75DD-F483-FB81-154378C552FF}"/>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5" name="Footer Placeholder 4">
            <a:extLst>
              <a:ext uri="{FF2B5EF4-FFF2-40B4-BE49-F238E27FC236}">
                <a16:creationId xmlns:a16="http://schemas.microsoft.com/office/drawing/2014/main" id="{23019DA9-3C64-40C9-002C-52438F1D4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5088CD-6AF4-FF08-518E-A93E492A2611}"/>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3962463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B8B3AD-3D9B-EFC2-47A7-E2E8254AED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CE4550-46C6-ABDE-D537-6712B905A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661CA6-4AB8-4FD1-B8BD-451CA48C5A70}"/>
              </a:ext>
            </a:extLst>
          </p:cNvPr>
          <p:cNvSpPr>
            <a:spLocks noGrp="1"/>
          </p:cNvSpPr>
          <p:nvPr>
            <p:ph type="dt" sz="half" idx="10"/>
          </p:nvPr>
        </p:nvSpPr>
        <p:spPr/>
        <p:txBody>
          <a:bodyPr/>
          <a:lstStyle/>
          <a:p>
            <a:fld id="{C3C5CA9D-362B-486C-B01D-28D6B741D0C4}" type="datetimeFigureOut">
              <a:rPr lang="en-IN" smtClean="0"/>
              <a:t>14-04-2026</a:t>
            </a:fld>
            <a:endParaRPr lang="en-IN"/>
          </a:p>
        </p:txBody>
      </p:sp>
      <p:sp>
        <p:nvSpPr>
          <p:cNvPr id="5" name="Footer Placeholder 4">
            <a:extLst>
              <a:ext uri="{FF2B5EF4-FFF2-40B4-BE49-F238E27FC236}">
                <a16:creationId xmlns:a16="http://schemas.microsoft.com/office/drawing/2014/main" id="{F2E5E9AF-4003-EFA9-14AF-D59FBAE669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403795-1C2C-0BFD-569F-77184F28658F}"/>
              </a:ext>
            </a:extLst>
          </p:cNvPr>
          <p:cNvSpPr>
            <a:spLocks noGrp="1"/>
          </p:cNvSpPr>
          <p:nvPr>
            <p:ph type="sldNum" sz="quarter" idx="12"/>
          </p:nvPr>
        </p:nvSpPr>
        <p:spPr/>
        <p:txBody>
          <a:bodyPr/>
          <a:lstStyle/>
          <a:p>
            <a:fld id="{A020A53A-9449-44B8-954B-C7C254F042F6}" type="slidenum">
              <a:rPr lang="en-IN" smtClean="0"/>
              <a:t>‹#›</a:t>
            </a:fld>
            <a:endParaRPr lang="en-IN"/>
          </a:p>
        </p:txBody>
      </p:sp>
    </p:spTree>
    <p:extLst>
      <p:ext uri="{BB962C8B-B14F-4D97-AF65-F5344CB8AC3E}">
        <p14:creationId xmlns:p14="http://schemas.microsoft.com/office/powerpoint/2010/main" val="4123170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0D7BE2-2145-1645-ECC1-7F5400BE3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9AE059-3D58-9514-64F3-630AABD50C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C3EE67-0C05-CCB9-6C5E-9E397BAF5B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5CA9D-362B-486C-B01D-28D6B741D0C4}" type="datetimeFigureOut">
              <a:rPr lang="en-IN" smtClean="0"/>
              <a:t>14-04-2026</a:t>
            </a:fld>
            <a:endParaRPr lang="en-IN"/>
          </a:p>
        </p:txBody>
      </p:sp>
      <p:sp>
        <p:nvSpPr>
          <p:cNvPr id="5" name="Footer Placeholder 4">
            <a:extLst>
              <a:ext uri="{FF2B5EF4-FFF2-40B4-BE49-F238E27FC236}">
                <a16:creationId xmlns:a16="http://schemas.microsoft.com/office/drawing/2014/main" id="{DC9DD9ED-2422-996F-D9EB-88249A2573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6038C6-EED7-A837-8184-A9ED260F5F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0A53A-9449-44B8-954B-C7C254F042F6}" type="slidenum">
              <a:rPr lang="en-IN" smtClean="0"/>
              <a:t>‹#›</a:t>
            </a:fld>
            <a:endParaRPr lang="en-IN"/>
          </a:p>
        </p:txBody>
      </p:sp>
    </p:spTree>
    <p:extLst>
      <p:ext uri="{BB962C8B-B14F-4D97-AF65-F5344CB8AC3E}">
        <p14:creationId xmlns:p14="http://schemas.microsoft.com/office/powerpoint/2010/main" val="789485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4C7BAA-180C-1F09-6360-91287DB688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0DE239B-03F7-CAE9-D2BE-4C33FA57F6AE}"/>
              </a:ext>
            </a:extLst>
          </p:cNvPr>
          <p:cNvSpPr txBox="1"/>
          <p:nvPr/>
        </p:nvSpPr>
        <p:spPr>
          <a:xfrm>
            <a:off x="6331974" y="1012723"/>
            <a:ext cx="5112774" cy="1200329"/>
          </a:xfrm>
          <a:prstGeom prst="rect">
            <a:avLst/>
          </a:prstGeom>
          <a:noFill/>
        </p:spPr>
        <p:txBody>
          <a:bodyPr wrap="square" rtlCol="0">
            <a:spAutoFit/>
          </a:bodyPr>
          <a:lstStyle/>
          <a:p>
            <a:r>
              <a:rPr lang="en-IN" sz="3600" b="1" spc="50">
                <a:ln w="0"/>
                <a:solidFill>
                  <a:schemeClr val="bg2"/>
                </a:solidFill>
                <a:effectLst>
                  <a:innerShdw blurRad="63500" dist="50800" dir="13500000">
                    <a:srgbClr val="000000">
                      <a:alpha val="50000"/>
                    </a:srgbClr>
                  </a:innerShdw>
                </a:effectLst>
                <a:latin typeface="Berlin Sans FB Demi" panose="020E0802020502020306" pitchFamily="34" charset="0"/>
              </a:rPr>
              <a:t>HR Employee Attrition Analysis</a:t>
            </a:r>
          </a:p>
        </p:txBody>
      </p:sp>
      <p:cxnSp>
        <p:nvCxnSpPr>
          <p:cNvPr id="9" name="Straight Connector 8">
            <a:extLst>
              <a:ext uri="{FF2B5EF4-FFF2-40B4-BE49-F238E27FC236}">
                <a16:creationId xmlns:a16="http://schemas.microsoft.com/office/drawing/2014/main" id="{B36A71BE-8D06-C44D-3ED4-110D35E063D2}"/>
              </a:ext>
            </a:extLst>
          </p:cNvPr>
          <p:cNvCxnSpPr>
            <a:cxnSpLocks/>
          </p:cNvCxnSpPr>
          <p:nvPr/>
        </p:nvCxnSpPr>
        <p:spPr>
          <a:xfrm>
            <a:off x="6096000" y="2330245"/>
            <a:ext cx="5712542" cy="0"/>
          </a:xfrm>
          <a:prstGeom prst="line">
            <a:avLst/>
          </a:prstGeom>
          <a:ln>
            <a:solidFill>
              <a:schemeClr val="bg2"/>
            </a:solidFill>
          </a:ln>
          <a:effectLst>
            <a:outerShdw blurRad="50800" dist="38100" dir="5400000" algn="t"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6C6685D7-ECAA-0A5D-A9DD-1C198A34AD31}"/>
              </a:ext>
            </a:extLst>
          </p:cNvPr>
          <p:cNvSpPr txBox="1"/>
          <p:nvPr/>
        </p:nvSpPr>
        <p:spPr>
          <a:xfrm>
            <a:off x="6140245" y="2474337"/>
            <a:ext cx="5624052" cy="646331"/>
          </a:xfrm>
          <a:prstGeom prst="rect">
            <a:avLst/>
          </a:prstGeom>
          <a:noFill/>
        </p:spPr>
        <p:txBody>
          <a:bodyPr wrap="square" rtlCol="0">
            <a:spAutoFit/>
          </a:bodyPr>
          <a:lstStyle/>
          <a:p>
            <a:r>
              <a:rPr lang="en-IN" b="1" spc="50">
                <a:ln w="0"/>
                <a:solidFill>
                  <a:schemeClr val="bg2"/>
                </a:solidFill>
                <a:effectLst>
                  <a:innerShdw blurRad="63500" dist="50800" dir="13500000">
                    <a:srgbClr val="000000">
                      <a:alpha val="50000"/>
                    </a:srgbClr>
                  </a:innerShdw>
                </a:effectLst>
              </a:rPr>
              <a:t>Unlocking Workforce Insights to Understand Attrition, Salary Trends, and Employee Behavior</a:t>
            </a:r>
          </a:p>
        </p:txBody>
      </p:sp>
    </p:spTree>
    <p:extLst>
      <p:ext uri="{BB962C8B-B14F-4D97-AF65-F5344CB8AC3E}">
        <p14:creationId xmlns:p14="http://schemas.microsoft.com/office/powerpoint/2010/main" val="123783195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BDAE716-1F63-4269-3407-15BD52BC354D}"/>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BE59C3C-82A9-C04A-48DB-8C1CF31F9E33}"/>
              </a:ext>
            </a:extLst>
          </p:cNvPr>
          <p:cNvSpPr txBox="1"/>
          <p:nvPr/>
        </p:nvSpPr>
        <p:spPr>
          <a:xfrm>
            <a:off x="1425677" y="934065"/>
            <a:ext cx="9340646" cy="4247317"/>
          </a:xfrm>
          <a:prstGeom prst="rect">
            <a:avLst/>
          </a:prstGeom>
          <a:noFill/>
        </p:spPr>
        <p:txBody>
          <a:bodyPr wrap="square" rtlCol="0">
            <a:spAutoFit/>
          </a:bodyPr>
          <a:lstStyle/>
          <a:p>
            <a:r>
              <a:rPr lang="en-IN" sz="2400" b="1">
                <a:solidFill>
                  <a:schemeClr val="bg1">
                    <a:lumMod val="95000"/>
                  </a:schemeClr>
                </a:solidFill>
              </a:rPr>
              <a:t>Problem Statement</a:t>
            </a:r>
          </a:p>
          <a:p>
            <a:pPr algn="ctr"/>
            <a:endParaRPr lang="en-IN" sz="2400" b="1">
              <a:solidFill>
                <a:schemeClr val="bg1">
                  <a:lumMod val="95000"/>
                </a:schemeClr>
              </a:solidFill>
            </a:endParaRPr>
          </a:p>
          <a:p>
            <a:r>
              <a:rPr lang="en-IN">
                <a:solidFill>
                  <a:schemeClr val="bg1">
                    <a:lumMod val="95000"/>
                  </a:schemeClr>
                </a:solidFill>
              </a:rPr>
              <a:t>Employee attrition is a major challenge impacting productivity, cost, and team stability.</a:t>
            </a:r>
            <a:br>
              <a:rPr lang="en-IN">
                <a:solidFill>
                  <a:schemeClr val="bg1">
                    <a:lumMod val="95000"/>
                  </a:schemeClr>
                </a:solidFill>
              </a:rPr>
            </a:br>
            <a:r>
              <a:rPr lang="en-IN">
                <a:solidFill>
                  <a:schemeClr val="bg1">
                    <a:lumMod val="95000"/>
                  </a:schemeClr>
                </a:solidFill>
              </a:rPr>
              <a:t>This project aims to analyze employee data to uncover patterns in workforce distribution, salary, experience, and demographics to help HR make data-driven decisions to reduce attrition.</a:t>
            </a:r>
          </a:p>
          <a:p>
            <a:br>
              <a:rPr lang="en-IN">
                <a:solidFill>
                  <a:schemeClr val="bg1">
                    <a:lumMod val="95000"/>
                  </a:schemeClr>
                </a:solidFill>
              </a:rPr>
            </a:br>
            <a:endParaRPr lang="en-IN">
              <a:solidFill>
                <a:schemeClr val="bg1">
                  <a:lumMod val="95000"/>
                </a:schemeClr>
              </a:solidFill>
            </a:endParaRPr>
          </a:p>
          <a:p>
            <a:r>
              <a:rPr lang="en-IN" b="1">
                <a:solidFill>
                  <a:schemeClr val="bg1">
                    <a:lumMod val="95000"/>
                  </a:schemeClr>
                </a:solidFill>
              </a:rPr>
              <a:t> </a:t>
            </a:r>
            <a:r>
              <a:rPr lang="en-IN" sz="2400" b="1">
                <a:solidFill>
                  <a:schemeClr val="bg1">
                    <a:lumMod val="95000"/>
                  </a:schemeClr>
                </a:solidFill>
              </a:rPr>
              <a:t>Objectives</a:t>
            </a:r>
          </a:p>
          <a:p>
            <a:endParaRPr lang="en-IN">
              <a:solidFill>
                <a:schemeClr val="bg1">
                  <a:lumMod val="95000"/>
                </a:schemeClr>
              </a:solidFill>
            </a:endParaRPr>
          </a:p>
          <a:p>
            <a:pPr marL="285750" indent="-285750">
              <a:buFont typeface="Arial" panose="020B0604020202020204" pitchFamily="34" charset="0"/>
              <a:buChar char="•"/>
            </a:pPr>
            <a:r>
              <a:rPr lang="en-IN">
                <a:solidFill>
                  <a:schemeClr val="bg1">
                    <a:lumMod val="95000"/>
                  </a:schemeClr>
                </a:solidFill>
              </a:rPr>
              <a:t>Understand workforce distribution </a:t>
            </a:r>
          </a:p>
          <a:p>
            <a:pPr marL="285750" indent="-285750">
              <a:buFont typeface="Arial" panose="020B0604020202020204" pitchFamily="34" charset="0"/>
              <a:buChar char="•"/>
            </a:pPr>
            <a:r>
              <a:rPr lang="en-IN">
                <a:solidFill>
                  <a:schemeClr val="bg1">
                    <a:lumMod val="95000"/>
                  </a:schemeClr>
                </a:solidFill>
              </a:rPr>
              <a:t>Identify high-paying roles and salary patterns </a:t>
            </a:r>
          </a:p>
          <a:p>
            <a:pPr marL="285750" indent="-285750">
              <a:buFont typeface="Arial" panose="020B0604020202020204" pitchFamily="34" charset="0"/>
              <a:buChar char="•"/>
            </a:pPr>
            <a:r>
              <a:rPr lang="en-IN">
                <a:solidFill>
                  <a:schemeClr val="bg1">
                    <a:lumMod val="95000"/>
                  </a:schemeClr>
                </a:solidFill>
              </a:rPr>
              <a:t>Analyze experience levels across departments </a:t>
            </a:r>
          </a:p>
          <a:p>
            <a:pPr marL="285750" indent="-285750">
              <a:buFont typeface="Arial" panose="020B0604020202020204" pitchFamily="34" charset="0"/>
              <a:buChar char="•"/>
            </a:pPr>
            <a:r>
              <a:rPr lang="en-IN">
                <a:solidFill>
                  <a:schemeClr val="bg1">
                    <a:lumMod val="95000"/>
                  </a:schemeClr>
                </a:solidFill>
              </a:rPr>
              <a:t>Explore demographic trends (age, gender)</a:t>
            </a:r>
          </a:p>
          <a:p>
            <a:endParaRPr lang="en-IN"/>
          </a:p>
        </p:txBody>
      </p:sp>
    </p:spTree>
    <p:extLst>
      <p:ext uri="{BB962C8B-B14F-4D97-AF65-F5344CB8AC3E}">
        <p14:creationId xmlns:p14="http://schemas.microsoft.com/office/powerpoint/2010/main" val="403135946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C1E2C-F9BC-09D4-A2E6-6100CD4B692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5AF10E3-FD21-07B5-D413-C5C56E4D0326}"/>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7B66CB66-30AA-A5B6-6CD5-9D932DE119E5}"/>
              </a:ext>
            </a:extLst>
          </p:cNvPr>
          <p:cNvSpPr txBox="1"/>
          <p:nvPr/>
        </p:nvSpPr>
        <p:spPr>
          <a:xfrm>
            <a:off x="983226" y="501445"/>
            <a:ext cx="9733935" cy="2031325"/>
          </a:xfrm>
          <a:prstGeom prst="rect">
            <a:avLst/>
          </a:prstGeom>
          <a:noFill/>
        </p:spPr>
        <p:txBody>
          <a:bodyPr wrap="square" rtlCol="0">
            <a:spAutoFit/>
          </a:bodyPr>
          <a:lstStyle/>
          <a:p>
            <a:pPr algn="ctr"/>
            <a:r>
              <a:rPr lang="en-IN" b="1">
                <a:solidFill>
                  <a:schemeClr val="bg1">
                    <a:lumMod val="95000"/>
                  </a:schemeClr>
                </a:solidFill>
              </a:rPr>
              <a:t>Q1. How many total employees are in the company?</a:t>
            </a:r>
          </a:p>
          <a:p>
            <a:endParaRPr lang="en-IN" b="1">
              <a:solidFill>
                <a:schemeClr val="bg1">
                  <a:lumMod val="95000"/>
                </a:schemeClr>
              </a:solidFill>
            </a:endParaRPr>
          </a:p>
          <a:p>
            <a:r>
              <a:rPr lang="en-IN" b="1">
                <a:solidFill>
                  <a:schemeClr val="bg1">
                    <a:lumMod val="95000"/>
                  </a:schemeClr>
                </a:solidFill>
              </a:rPr>
              <a:t>Answer:</a:t>
            </a:r>
            <a:r>
              <a:rPr lang="en-IN">
                <a:solidFill>
                  <a:schemeClr val="bg1">
                    <a:lumMod val="95000"/>
                  </a:schemeClr>
                </a:solidFill>
              </a:rPr>
              <a:t> 1470 employees</a:t>
            </a:r>
          </a:p>
          <a:p>
            <a:endParaRPr lang="en-IN" b="1">
              <a:solidFill>
                <a:schemeClr val="bg1">
                  <a:lumMod val="95000"/>
                </a:schemeClr>
              </a:solidFill>
            </a:endParaRPr>
          </a:p>
          <a:p>
            <a:r>
              <a:rPr lang="en-IN" b="1">
                <a:solidFill>
                  <a:schemeClr val="bg1">
                    <a:lumMod val="95000"/>
                  </a:schemeClr>
                </a:solidFill>
              </a:rPr>
              <a:t>Insight:</a:t>
            </a:r>
            <a:endParaRPr lang="en-IN">
              <a:solidFill>
                <a:schemeClr val="bg1">
                  <a:lumMod val="95000"/>
                </a:schemeClr>
              </a:solidFill>
            </a:endParaRPr>
          </a:p>
          <a:p>
            <a:r>
              <a:rPr lang="en-IN">
                <a:solidFill>
                  <a:schemeClr val="bg1">
                    <a:lumMod val="95000"/>
                  </a:schemeClr>
                </a:solidFill>
              </a:rPr>
              <a:t>The company has a </a:t>
            </a:r>
            <a:r>
              <a:rPr lang="en-IN" b="1">
                <a:solidFill>
                  <a:schemeClr val="bg1">
                    <a:lumMod val="95000"/>
                  </a:schemeClr>
                </a:solidFill>
              </a:rPr>
              <a:t>moderately large workforce</a:t>
            </a:r>
            <a:r>
              <a:rPr lang="en-IN">
                <a:solidFill>
                  <a:schemeClr val="bg1">
                    <a:lumMod val="95000"/>
                  </a:schemeClr>
                </a:solidFill>
              </a:rPr>
              <a:t>, allowing meaningful segmentation. </a:t>
            </a:r>
          </a:p>
          <a:p>
            <a:r>
              <a:rPr lang="en-IN">
                <a:solidFill>
                  <a:schemeClr val="bg1">
                    <a:lumMod val="95000"/>
                  </a:schemeClr>
                </a:solidFill>
              </a:rPr>
              <a:t>This dataset size is sufficient for identifying reliable HR trends.</a:t>
            </a:r>
          </a:p>
        </p:txBody>
      </p:sp>
      <p:pic>
        <p:nvPicPr>
          <p:cNvPr id="3" name="Picture 2">
            <a:extLst>
              <a:ext uri="{FF2B5EF4-FFF2-40B4-BE49-F238E27FC236}">
                <a16:creationId xmlns:a16="http://schemas.microsoft.com/office/drawing/2014/main" id="{E2472F16-77C1-992C-D4B1-EAC79CAF1E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25" y="2723534"/>
            <a:ext cx="7177549" cy="3834581"/>
          </a:xfrm>
          <a:prstGeom prst="rect">
            <a:avLst/>
          </a:prstGeom>
        </p:spPr>
      </p:pic>
    </p:spTree>
    <p:extLst>
      <p:ext uri="{BB962C8B-B14F-4D97-AF65-F5344CB8AC3E}">
        <p14:creationId xmlns:p14="http://schemas.microsoft.com/office/powerpoint/2010/main" val="184657358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1BB2-25E7-E3E9-180A-A20F41B89CA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B69E417-DD54-7B72-228B-9300B01FF8E9}"/>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E98AFFD2-FEC0-B86F-5524-6822C70B89DB}"/>
              </a:ext>
            </a:extLst>
          </p:cNvPr>
          <p:cNvSpPr txBox="1"/>
          <p:nvPr/>
        </p:nvSpPr>
        <p:spPr>
          <a:xfrm>
            <a:off x="983226" y="334193"/>
            <a:ext cx="10019071" cy="2585323"/>
          </a:xfrm>
          <a:prstGeom prst="rect">
            <a:avLst/>
          </a:prstGeom>
          <a:noFill/>
        </p:spPr>
        <p:txBody>
          <a:bodyPr wrap="square" rtlCol="0">
            <a:spAutoFit/>
          </a:bodyPr>
          <a:lstStyle/>
          <a:p>
            <a:pPr algn="ctr"/>
            <a:r>
              <a:rPr lang="en-IN" b="1">
                <a:solidFill>
                  <a:schemeClr val="bg1">
                    <a:lumMod val="95000"/>
                  </a:schemeClr>
                </a:solidFill>
              </a:rPr>
              <a:t>Q2. How many employees are there in each department?</a:t>
            </a:r>
          </a:p>
          <a:p>
            <a:endParaRPr lang="en-IN" b="1">
              <a:solidFill>
                <a:schemeClr val="bg1">
                  <a:lumMod val="95000"/>
                </a:schemeClr>
              </a:solidFill>
            </a:endParaRPr>
          </a:p>
          <a:p>
            <a:r>
              <a:rPr lang="en-IN" b="1">
                <a:solidFill>
                  <a:schemeClr val="bg1">
                    <a:lumMod val="95000"/>
                  </a:schemeClr>
                </a:solidFill>
              </a:rPr>
              <a:t>Answer:</a:t>
            </a:r>
            <a:endParaRPr lang="en-IN">
              <a:solidFill>
                <a:schemeClr val="bg1">
                  <a:lumMod val="95000"/>
                </a:schemeClr>
              </a:solidFill>
            </a:endParaRPr>
          </a:p>
          <a:p>
            <a:r>
              <a:rPr lang="en-IN">
                <a:solidFill>
                  <a:schemeClr val="bg1">
                    <a:lumMod val="95000"/>
                  </a:schemeClr>
                </a:solidFill>
              </a:rPr>
              <a:t>Research &amp; Development → 961 </a:t>
            </a:r>
          </a:p>
          <a:p>
            <a:r>
              <a:rPr lang="en-IN">
                <a:solidFill>
                  <a:schemeClr val="bg1">
                    <a:lumMod val="95000"/>
                  </a:schemeClr>
                </a:solidFill>
              </a:rPr>
              <a:t>Sales → 446 </a:t>
            </a:r>
          </a:p>
          <a:p>
            <a:r>
              <a:rPr lang="en-IN">
                <a:solidFill>
                  <a:schemeClr val="bg1">
                    <a:lumMod val="95000"/>
                  </a:schemeClr>
                </a:solidFill>
              </a:rPr>
              <a:t>Human Resources → 63 </a:t>
            </a:r>
          </a:p>
          <a:p>
            <a:endParaRPr lang="en-IN">
              <a:solidFill>
                <a:schemeClr val="bg1">
                  <a:lumMod val="95000"/>
                </a:schemeClr>
              </a:solidFill>
            </a:endParaRPr>
          </a:p>
          <a:p>
            <a:endParaRPr lang="en-IN" b="1">
              <a:solidFill>
                <a:schemeClr val="bg1">
                  <a:lumMod val="95000"/>
                </a:schemeClr>
              </a:solidFill>
            </a:endParaRPr>
          </a:p>
          <a:p>
            <a:endParaRPr lang="en-IN"/>
          </a:p>
        </p:txBody>
      </p:sp>
      <p:pic>
        <p:nvPicPr>
          <p:cNvPr id="3" name="Picture 2">
            <a:extLst>
              <a:ext uri="{FF2B5EF4-FFF2-40B4-BE49-F238E27FC236}">
                <a16:creationId xmlns:a16="http://schemas.microsoft.com/office/drawing/2014/main" id="{09BB298D-4E8A-28AF-796B-0E86C29BC8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26" y="2502317"/>
            <a:ext cx="7315201" cy="4080386"/>
          </a:xfrm>
          <a:prstGeom prst="rect">
            <a:avLst/>
          </a:prstGeom>
        </p:spPr>
      </p:pic>
      <p:sp>
        <p:nvSpPr>
          <p:cNvPr id="4" name="TextBox 3">
            <a:extLst>
              <a:ext uri="{FF2B5EF4-FFF2-40B4-BE49-F238E27FC236}">
                <a16:creationId xmlns:a16="http://schemas.microsoft.com/office/drawing/2014/main" id="{54FAF61B-4282-F491-21CB-6FB3B7E3010E}"/>
              </a:ext>
            </a:extLst>
          </p:cNvPr>
          <p:cNvSpPr txBox="1"/>
          <p:nvPr/>
        </p:nvSpPr>
        <p:spPr>
          <a:xfrm>
            <a:off x="5545394" y="818091"/>
            <a:ext cx="6440129" cy="1200329"/>
          </a:xfrm>
          <a:prstGeom prst="rect">
            <a:avLst/>
          </a:prstGeom>
          <a:noFill/>
        </p:spPr>
        <p:txBody>
          <a:bodyPr wrap="square" rtlCol="0">
            <a:spAutoFit/>
          </a:bodyPr>
          <a:lstStyle/>
          <a:p>
            <a:r>
              <a:rPr lang="en-IN" b="1">
                <a:solidFill>
                  <a:schemeClr val="bg1">
                    <a:lumMod val="95000"/>
                  </a:schemeClr>
                </a:solidFill>
              </a:rPr>
              <a:t>Insight:</a:t>
            </a:r>
            <a:endParaRPr lang="en-IN">
              <a:solidFill>
                <a:schemeClr val="bg1">
                  <a:lumMod val="95000"/>
                </a:schemeClr>
              </a:solidFill>
            </a:endParaRPr>
          </a:p>
          <a:p>
            <a:r>
              <a:rPr lang="en-IN" b="1">
                <a:solidFill>
                  <a:schemeClr val="bg1">
                    <a:lumMod val="95000"/>
                  </a:schemeClr>
                </a:solidFill>
              </a:rPr>
              <a:t>R&amp;D dominates (~65%)</a:t>
            </a:r>
            <a:r>
              <a:rPr lang="en-IN">
                <a:solidFill>
                  <a:schemeClr val="bg1">
                    <a:lumMod val="95000"/>
                  </a:schemeClr>
                </a:solidFill>
              </a:rPr>
              <a:t> of workforce → core business function </a:t>
            </a:r>
          </a:p>
          <a:p>
            <a:r>
              <a:rPr lang="en-IN">
                <a:solidFill>
                  <a:schemeClr val="bg1">
                    <a:lumMod val="95000"/>
                  </a:schemeClr>
                </a:solidFill>
              </a:rPr>
              <a:t>HR is very small → may lead to </a:t>
            </a:r>
            <a:r>
              <a:rPr lang="en-IN" b="1">
                <a:solidFill>
                  <a:schemeClr val="bg1">
                    <a:lumMod val="95000"/>
                  </a:schemeClr>
                </a:solidFill>
              </a:rPr>
              <a:t>overload in HR operations</a:t>
            </a:r>
            <a:r>
              <a:rPr lang="en-IN">
                <a:solidFill>
                  <a:schemeClr val="bg1">
                    <a:lumMod val="95000"/>
                  </a:schemeClr>
                </a:solidFill>
              </a:rPr>
              <a:t> </a:t>
            </a:r>
          </a:p>
          <a:p>
            <a:r>
              <a:rPr lang="en-IN">
                <a:solidFill>
                  <a:schemeClr val="bg1">
                    <a:lumMod val="95000"/>
                  </a:schemeClr>
                </a:solidFill>
              </a:rPr>
              <a:t>Sales is the second largest → revenue-driving team</a:t>
            </a:r>
          </a:p>
        </p:txBody>
      </p:sp>
    </p:spTree>
    <p:extLst>
      <p:ext uri="{BB962C8B-B14F-4D97-AF65-F5344CB8AC3E}">
        <p14:creationId xmlns:p14="http://schemas.microsoft.com/office/powerpoint/2010/main" val="143139477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E9F4C-5393-AF44-7195-6584D919C36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1AD3AA2-9E76-B368-7A84-E2E6FD0EDA15}"/>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7D1A2F43-9776-E7E5-A4F0-6E8F4FD1D78D}"/>
              </a:ext>
            </a:extLst>
          </p:cNvPr>
          <p:cNvSpPr txBox="1"/>
          <p:nvPr/>
        </p:nvSpPr>
        <p:spPr>
          <a:xfrm>
            <a:off x="1248697" y="530942"/>
            <a:ext cx="9763432" cy="1754326"/>
          </a:xfrm>
          <a:prstGeom prst="rect">
            <a:avLst/>
          </a:prstGeom>
          <a:noFill/>
        </p:spPr>
        <p:txBody>
          <a:bodyPr wrap="square" rtlCol="0">
            <a:spAutoFit/>
          </a:bodyPr>
          <a:lstStyle/>
          <a:p>
            <a:pPr algn="ctr"/>
            <a:r>
              <a:rPr lang="en-IN" b="1">
                <a:solidFill>
                  <a:schemeClr val="bg1">
                    <a:lumMod val="95000"/>
                  </a:schemeClr>
                </a:solidFill>
              </a:rPr>
              <a:t>Q3. What is the average age of employees by department?</a:t>
            </a:r>
          </a:p>
          <a:p>
            <a:endParaRPr lang="en-IN" b="1"/>
          </a:p>
          <a:p>
            <a:r>
              <a:rPr lang="en-IN" b="1">
                <a:solidFill>
                  <a:schemeClr val="bg1">
                    <a:lumMod val="95000"/>
                  </a:schemeClr>
                </a:solidFill>
              </a:rPr>
              <a:t>Answer:</a:t>
            </a:r>
            <a:endParaRPr lang="en-IN">
              <a:solidFill>
                <a:schemeClr val="bg1">
                  <a:lumMod val="95000"/>
                </a:schemeClr>
              </a:solidFill>
            </a:endParaRPr>
          </a:p>
          <a:p>
            <a:r>
              <a:rPr lang="en-IN">
                <a:solidFill>
                  <a:schemeClr val="bg1">
                    <a:lumMod val="95000"/>
                  </a:schemeClr>
                </a:solidFill>
              </a:rPr>
              <a:t>Human Resources → 37.81 </a:t>
            </a:r>
          </a:p>
          <a:p>
            <a:r>
              <a:rPr lang="en-IN">
                <a:solidFill>
                  <a:schemeClr val="bg1">
                    <a:lumMod val="95000"/>
                  </a:schemeClr>
                </a:solidFill>
              </a:rPr>
              <a:t>Research &amp; Development → 37.04 </a:t>
            </a:r>
          </a:p>
          <a:p>
            <a:r>
              <a:rPr lang="en-IN">
                <a:solidFill>
                  <a:schemeClr val="bg1">
                    <a:lumMod val="95000"/>
                  </a:schemeClr>
                </a:solidFill>
              </a:rPr>
              <a:t>Sales → 36.54 </a:t>
            </a:r>
          </a:p>
        </p:txBody>
      </p:sp>
      <p:sp>
        <p:nvSpPr>
          <p:cNvPr id="3" name="TextBox 2">
            <a:extLst>
              <a:ext uri="{FF2B5EF4-FFF2-40B4-BE49-F238E27FC236}">
                <a16:creationId xmlns:a16="http://schemas.microsoft.com/office/drawing/2014/main" id="{85015450-B03B-D0D6-F35D-92DC3A8FE315}"/>
              </a:ext>
            </a:extLst>
          </p:cNvPr>
          <p:cNvSpPr txBox="1"/>
          <p:nvPr/>
        </p:nvSpPr>
        <p:spPr>
          <a:xfrm>
            <a:off x="5240594" y="1084939"/>
            <a:ext cx="6676103" cy="1200329"/>
          </a:xfrm>
          <a:prstGeom prst="rect">
            <a:avLst/>
          </a:prstGeom>
          <a:noFill/>
        </p:spPr>
        <p:txBody>
          <a:bodyPr wrap="square" rtlCol="0">
            <a:spAutoFit/>
          </a:bodyPr>
          <a:lstStyle/>
          <a:p>
            <a:r>
              <a:rPr lang="en-IN" b="1">
                <a:solidFill>
                  <a:schemeClr val="bg1">
                    <a:lumMod val="95000"/>
                  </a:schemeClr>
                </a:solidFill>
              </a:rPr>
              <a:t>Insight:</a:t>
            </a:r>
            <a:endParaRPr lang="en-IN">
              <a:solidFill>
                <a:schemeClr val="bg1">
                  <a:lumMod val="95000"/>
                </a:schemeClr>
              </a:solidFill>
            </a:endParaRPr>
          </a:p>
          <a:p>
            <a:r>
              <a:rPr lang="en-IN">
                <a:solidFill>
                  <a:schemeClr val="bg1">
                    <a:lumMod val="95000"/>
                  </a:schemeClr>
                </a:solidFill>
              </a:rPr>
              <a:t>Age distribution is </a:t>
            </a:r>
            <a:r>
              <a:rPr lang="en-IN" b="1">
                <a:solidFill>
                  <a:schemeClr val="bg1">
                    <a:lumMod val="95000"/>
                  </a:schemeClr>
                </a:solidFill>
              </a:rPr>
              <a:t>very balanced across departments</a:t>
            </a:r>
            <a:r>
              <a:rPr lang="en-IN">
                <a:solidFill>
                  <a:schemeClr val="bg1">
                    <a:lumMod val="95000"/>
                  </a:schemeClr>
                </a:solidFill>
              </a:rPr>
              <a:t> </a:t>
            </a:r>
          </a:p>
          <a:p>
            <a:r>
              <a:rPr lang="en-IN">
                <a:solidFill>
                  <a:schemeClr val="bg1">
                    <a:lumMod val="95000"/>
                  </a:schemeClr>
                </a:solidFill>
              </a:rPr>
              <a:t>Slightly older workforce in HR → possibly more experienced roles </a:t>
            </a:r>
          </a:p>
          <a:p>
            <a:r>
              <a:rPr lang="en-IN">
                <a:solidFill>
                  <a:schemeClr val="bg1">
                    <a:lumMod val="95000"/>
                  </a:schemeClr>
                </a:solidFill>
              </a:rPr>
              <a:t>No major age bias → good organizational diversity</a:t>
            </a:r>
          </a:p>
        </p:txBody>
      </p:sp>
      <p:pic>
        <p:nvPicPr>
          <p:cNvPr id="4" name="Picture 3">
            <a:extLst>
              <a:ext uri="{FF2B5EF4-FFF2-40B4-BE49-F238E27FC236}">
                <a16:creationId xmlns:a16="http://schemas.microsoft.com/office/drawing/2014/main" id="{3042CE0F-2F7E-EBDA-2D5A-620D5ED02A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0878" y="2622935"/>
            <a:ext cx="7315199" cy="3899596"/>
          </a:xfrm>
          <a:prstGeom prst="rect">
            <a:avLst/>
          </a:prstGeom>
        </p:spPr>
      </p:pic>
    </p:spTree>
    <p:extLst>
      <p:ext uri="{BB962C8B-B14F-4D97-AF65-F5344CB8AC3E}">
        <p14:creationId xmlns:p14="http://schemas.microsoft.com/office/powerpoint/2010/main" val="411435367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9649-28A4-4411-FEF0-3A97049D549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CC4D226-959D-0EB0-6F25-333ECF8E174A}"/>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BCB0D02-AEB4-A32F-DB48-4E5E92109091}"/>
              </a:ext>
            </a:extLst>
          </p:cNvPr>
          <p:cNvSpPr txBox="1"/>
          <p:nvPr/>
        </p:nvSpPr>
        <p:spPr>
          <a:xfrm>
            <a:off x="1032387" y="319550"/>
            <a:ext cx="10127226" cy="2308324"/>
          </a:xfrm>
          <a:prstGeom prst="rect">
            <a:avLst/>
          </a:prstGeom>
          <a:noFill/>
        </p:spPr>
        <p:txBody>
          <a:bodyPr wrap="square" rtlCol="0">
            <a:spAutoFit/>
          </a:bodyPr>
          <a:lstStyle/>
          <a:p>
            <a:pPr algn="ctr"/>
            <a:r>
              <a:rPr lang="en-IN" b="1">
                <a:solidFill>
                  <a:schemeClr val="bg1">
                    <a:lumMod val="95000"/>
                  </a:schemeClr>
                </a:solidFill>
              </a:rPr>
              <a:t>Q4. Which job role has the highest average monthly income?</a:t>
            </a:r>
          </a:p>
          <a:p>
            <a:endParaRPr lang="en-IN" b="1">
              <a:solidFill>
                <a:schemeClr val="bg1">
                  <a:lumMod val="95000"/>
                </a:schemeClr>
              </a:solidFill>
            </a:endParaRPr>
          </a:p>
          <a:p>
            <a:r>
              <a:rPr lang="en-IN" b="1">
                <a:solidFill>
                  <a:schemeClr val="bg1">
                    <a:lumMod val="95000"/>
                  </a:schemeClr>
                </a:solidFill>
              </a:rPr>
              <a:t>Answer:</a:t>
            </a:r>
            <a:r>
              <a:rPr lang="en-IN">
                <a:solidFill>
                  <a:schemeClr val="bg1">
                    <a:lumMod val="95000"/>
                  </a:schemeClr>
                </a:solidFill>
              </a:rPr>
              <a:t> Manager (~17,000+)</a:t>
            </a:r>
          </a:p>
          <a:p>
            <a:endParaRPr lang="en-IN" b="1">
              <a:solidFill>
                <a:schemeClr val="bg1">
                  <a:lumMod val="95000"/>
                </a:schemeClr>
              </a:solidFill>
            </a:endParaRPr>
          </a:p>
          <a:p>
            <a:r>
              <a:rPr lang="en-IN" b="1">
                <a:solidFill>
                  <a:schemeClr val="bg1">
                    <a:lumMod val="95000"/>
                  </a:schemeClr>
                </a:solidFill>
              </a:rPr>
              <a:t>Insight:</a:t>
            </a:r>
            <a:endParaRPr lang="en-IN">
              <a:solidFill>
                <a:schemeClr val="bg1">
                  <a:lumMod val="95000"/>
                </a:schemeClr>
              </a:solidFill>
            </a:endParaRPr>
          </a:p>
          <a:p>
            <a:r>
              <a:rPr lang="en-IN">
                <a:solidFill>
                  <a:schemeClr val="bg1">
                    <a:lumMod val="95000"/>
                  </a:schemeClr>
                </a:solidFill>
              </a:rPr>
              <a:t>Managers earn significantly higher → reflects </a:t>
            </a:r>
            <a:r>
              <a:rPr lang="en-IN" b="1">
                <a:solidFill>
                  <a:schemeClr val="bg1">
                    <a:lumMod val="95000"/>
                  </a:schemeClr>
                </a:solidFill>
              </a:rPr>
              <a:t>leadership premium</a:t>
            </a:r>
            <a:r>
              <a:rPr lang="en-IN">
                <a:solidFill>
                  <a:schemeClr val="bg1">
                    <a:lumMod val="95000"/>
                  </a:schemeClr>
                </a:solidFill>
              </a:rPr>
              <a:t> </a:t>
            </a:r>
          </a:p>
          <a:p>
            <a:r>
              <a:rPr lang="en-IN">
                <a:solidFill>
                  <a:schemeClr val="bg1">
                    <a:lumMod val="95000"/>
                  </a:schemeClr>
                </a:solidFill>
              </a:rPr>
              <a:t>Indicates </a:t>
            </a:r>
            <a:r>
              <a:rPr lang="en-IN" b="1">
                <a:solidFill>
                  <a:schemeClr val="bg1">
                    <a:lumMod val="95000"/>
                  </a:schemeClr>
                </a:solidFill>
              </a:rPr>
              <a:t>hierarchical salary structure</a:t>
            </a:r>
            <a:r>
              <a:rPr lang="en-IN">
                <a:solidFill>
                  <a:schemeClr val="bg1">
                    <a:lumMod val="95000"/>
                  </a:schemeClr>
                </a:solidFill>
              </a:rPr>
              <a:t> </a:t>
            </a:r>
          </a:p>
          <a:p>
            <a:r>
              <a:rPr lang="en-IN">
                <a:solidFill>
                  <a:schemeClr val="bg1">
                    <a:lumMod val="95000"/>
                  </a:schemeClr>
                </a:solidFill>
              </a:rPr>
              <a:t>Useful for understanding </a:t>
            </a:r>
            <a:r>
              <a:rPr lang="en-IN" b="1">
                <a:solidFill>
                  <a:schemeClr val="bg1">
                    <a:lumMod val="95000"/>
                  </a:schemeClr>
                </a:solidFill>
              </a:rPr>
              <a:t>career growth incentives</a:t>
            </a:r>
            <a:endParaRPr lang="en-IN">
              <a:solidFill>
                <a:schemeClr val="bg1">
                  <a:lumMod val="95000"/>
                </a:schemeClr>
              </a:solidFill>
            </a:endParaRPr>
          </a:p>
        </p:txBody>
      </p:sp>
      <p:pic>
        <p:nvPicPr>
          <p:cNvPr id="3" name="Picture 2">
            <a:extLst>
              <a:ext uri="{FF2B5EF4-FFF2-40B4-BE49-F238E27FC236}">
                <a16:creationId xmlns:a16="http://schemas.microsoft.com/office/drawing/2014/main" id="{36984195-33D6-D17F-C77C-47A3E12839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5637" y="2878596"/>
            <a:ext cx="7359097" cy="3728682"/>
          </a:xfrm>
          <a:prstGeom prst="rect">
            <a:avLst/>
          </a:prstGeom>
        </p:spPr>
      </p:pic>
    </p:spTree>
    <p:extLst>
      <p:ext uri="{BB962C8B-B14F-4D97-AF65-F5344CB8AC3E}">
        <p14:creationId xmlns:p14="http://schemas.microsoft.com/office/powerpoint/2010/main" val="386171812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181EF-D04A-BAE9-C862-957366BB58E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9C2E659-E80F-DE88-64D8-388591D16B6E}"/>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AC664D75-58BB-15B3-4175-8D12469C9D43}"/>
              </a:ext>
            </a:extLst>
          </p:cNvPr>
          <p:cNvSpPr txBox="1"/>
          <p:nvPr/>
        </p:nvSpPr>
        <p:spPr>
          <a:xfrm>
            <a:off x="806245" y="521110"/>
            <a:ext cx="10530349" cy="2031325"/>
          </a:xfrm>
          <a:prstGeom prst="rect">
            <a:avLst/>
          </a:prstGeom>
          <a:noFill/>
        </p:spPr>
        <p:txBody>
          <a:bodyPr wrap="square" rtlCol="0">
            <a:spAutoFit/>
          </a:bodyPr>
          <a:lstStyle/>
          <a:p>
            <a:pPr algn="ctr"/>
            <a:r>
              <a:rPr lang="en-IN" b="1">
                <a:solidFill>
                  <a:schemeClr val="bg1">
                    <a:lumMod val="95000"/>
                  </a:schemeClr>
                </a:solidFill>
              </a:rPr>
              <a:t>Q5. What is the gender distribution across departments?</a:t>
            </a:r>
          </a:p>
          <a:p>
            <a:pPr algn="ctr"/>
            <a:endParaRPr lang="en-IN" b="1">
              <a:solidFill>
                <a:schemeClr val="bg1">
                  <a:lumMod val="95000"/>
                </a:schemeClr>
              </a:solidFill>
            </a:endParaRPr>
          </a:p>
          <a:p>
            <a:r>
              <a:rPr lang="en-IN" b="1">
                <a:solidFill>
                  <a:schemeClr val="bg1">
                    <a:lumMod val="95000"/>
                  </a:schemeClr>
                </a:solidFill>
              </a:rPr>
              <a:t>Answer (observed pattern):</a:t>
            </a:r>
            <a:endParaRPr lang="en-IN">
              <a:solidFill>
                <a:schemeClr val="bg1">
                  <a:lumMod val="95000"/>
                </a:schemeClr>
              </a:solidFill>
            </a:endParaRPr>
          </a:p>
          <a:p>
            <a:r>
              <a:rPr lang="en-IN">
                <a:solidFill>
                  <a:schemeClr val="bg1">
                    <a:lumMod val="95000"/>
                  </a:schemeClr>
                </a:solidFill>
              </a:rPr>
              <a:t>R&amp;D → More males than females </a:t>
            </a:r>
          </a:p>
          <a:p>
            <a:r>
              <a:rPr lang="en-IN">
                <a:solidFill>
                  <a:schemeClr val="bg1">
                    <a:lumMod val="95000"/>
                  </a:schemeClr>
                </a:solidFill>
              </a:rPr>
              <a:t>Sales → Balanced but male-dominant </a:t>
            </a:r>
          </a:p>
          <a:p>
            <a:r>
              <a:rPr lang="en-IN">
                <a:solidFill>
                  <a:schemeClr val="bg1">
                    <a:lumMod val="95000"/>
                  </a:schemeClr>
                </a:solidFill>
              </a:rPr>
              <a:t>HR → More balanced / slightly female-dominant</a:t>
            </a:r>
          </a:p>
          <a:p>
            <a:endParaRPr lang="en-IN"/>
          </a:p>
        </p:txBody>
      </p:sp>
      <p:sp>
        <p:nvSpPr>
          <p:cNvPr id="3" name="TextBox 2">
            <a:extLst>
              <a:ext uri="{FF2B5EF4-FFF2-40B4-BE49-F238E27FC236}">
                <a16:creationId xmlns:a16="http://schemas.microsoft.com/office/drawing/2014/main" id="{20DEB1C7-7361-BCCF-8FBA-684ACFB6E569}"/>
              </a:ext>
            </a:extLst>
          </p:cNvPr>
          <p:cNvSpPr txBox="1"/>
          <p:nvPr/>
        </p:nvSpPr>
        <p:spPr>
          <a:xfrm>
            <a:off x="6400801" y="1075107"/>
            <a:ext cx="6243483" cy="1477328"/>
          </a:xfrm>
          <a:prstGeom prst="rect">
            <a:avLst/>
          </a:prstGeom>
          <a:noFill/>
        </p:spPr>
        <p:txBody>
          <a:bodyPr wrap="square" rtlCol="0">
            <a:spAutoFit/>
          </a:bodyPr>
          <a:lstStyle/>
          <a:p>
            <a:r>
              <a:rPr lang="en-IN" b="1">
                <a:solidFill>
                  <a:schemeClr val="bg1">
                    <a:lumMod val="95000"/>
                  </a:schemeClr>
                </a:solidFill>
              </a:rPr>
              <a:t>Insight:</a:t>
            </a:r>
            <a:endParaRPr lang="en-IN">
              <a:solidFill>
                <a:schemeClr val="bg1">
                  <a:lumMod val="95000"/>
                </a:schemeClr>
              </a:solidFill>
            </a:endParaRPr>
          </a:p>
          <a:p>
            <a:r>
              <a:rPr lang="en-IN">
                <a:solidFill>
                  <a:schemeClr val="bg1">
                    <a:lumMod val="95000"/>
                  </a:schemeClr>
                </a:solidFill>
              </a:rPr>
              <a:t>Gender imbalance exists in technical roles (R&amp;D) </a:t>
            </a:r>
          </a:p>
          <a:p>
            <a:r>
              <a:rPr lang="en-IN">
                <a:solidFill>
                  <a:schemeClr val="bg1">
                    <a:lumMod val="95000"/>
                  </a:schemeClr>
                </a:solidFill>
              </a:rPr>
              <a:t>HR shows better gender diversity </a:t>
            </a:r>
          </a:p>
          <a:p>
            <a:r>
              <a:rPr lang="en-IN">
                <a:solidFill>
                  <a:schemeClr val="bg1">
                    <a:lumMod val="95000"/>
                  </a:schemeClr>
                </a:solidFill>
              </a:rPr>
              <a:t>Opportunity to improve </a:t>
            </a:r>
            <a:r>
              <a:rPr lang="en-IN" b="1">
                <a:solidFill>
                  <a:schemeClr val="bg1">
                    <a:lumMod val="95000"/>
                  </a:schemeClr>
                </a:solidFill>
              </a:rPr>
              <a:t>inclusion in technical teams</a:t>
            </a:r>
            <a:endParaRPr lang="en-IN">
              <a:solidFill>
                <a:schemeClr val="bg1">
                  <a:lumMod val="95000"/>
                </a:schemeClr>
              </a:solidFill>
            </a:endParaRPr>
          </a:p>
          <a:p>
            <a:endParaRPr lang="en-IN"/>
          </a:p>
        </p:txBody>
      </p:sp>
      <p:pic>
        <p:nvPicPr>
          <p:cNvPr id="4" name="Picture 3">
            <a:extLst>
              <a:ext uri="{FF2B5EF4-FFF2-40B4-BE49-F238E27FC236}">
                <a16:creationId xmlns:a16="http://schemas.microsoft.com/office/drawing/2014/main" id="{95EA0D7F-EF3D-25BF-0D6A-B3EDB19856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5406" y="2552435"/>
            <a:ext cx="7423355" cy="3995849"/>
          </a:xfrm>
          <a:prstGeom prst="rect">
            <a:avLst/>
          </a:prstGeom>
        </p:spPr>
      </p:pic>
    </p:spTree>
    <p:extLst>
      <p:ext uri="{BB962C8B-B14F-4D97-AF65-F5344CB8AC3E}">
        <p14:creationId xmlns:p14="http://schemas.microsoft.com/office/powerpoint/2010/main" val="377449055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9F3DA-730A-C9B3-4840-3D0F65A81E5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678AB80-AE74-2E34-08BE-73B4C75DA86E}"/>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EA389A56-55F0-B77B-F66C-3A532E21933C}"/>
              </a:ext>
            </a:extLst>
          </p:cNvPr>
          <p:cNvSpPr txBox="1"/>
          <p:nvPr/>
        </p:nvSpPr>
        <p:spPr>
          <a:xfrm>
            <a:off x="1120877" y="511277"/>
            <a:ext cx="9547123" cy="2308324"/>
          </a:xfrm>
          <a:prstGeom prst="rect">
            <a:avLst/>
          </a:prstGeom>
          <a:noFill/>
        </p:spPr>
        <p:txBody>
          <a:bodyPr wrap="square" rtlCol="0">
            <a:spAutoFit/>
          </a:bodyPr>
          <a:lstStyle/>
          <a:p>
            <a:pPr algn="ctr"/>
            <a:r>
              <a:rPr lang="en-IN" b="1">
                <a:solidFill>
                  <a:schemeClr val="bg1">
                    <a:lumMod val="95000"/>
                  </a:schemeClr>
                </a:solidFill>
              </a:rPr>
              <a:t>Q6. Average monthly income by education level?</a:t>
            </a:r>
          </a:p>
          <a:p>
            <a:pPr algn="ctr"/>
            <a:endParaRPr lang="en-IN" b="1">
              <a:solidFill>
                <a:schemeClr val="bg1">
                  <a:lumMod val="95000"/>
                </a:schemeClr>
              </a:solidFill>
            </a:endParaRPr>
          </a:p>
          <a:p>
            <a:r>
              <a:rPr lang="en-IN" b="1">
                <a:solidFill>
                  <a:schemeClr val="bg1">
                    <a:lumMod val="95000"/>
                  </a:schemeClr>
                </a:solidFill>
              </a:rPr>
              <a:t>Answer:</a:t>
            </a:r>
            <a:endParaRPr lang="en-IN">
              <a:solidFill>
                <a:schemeClr val="bg1">
                  <a:lumMod val="95000"/>
                </a:schemeClr>
              </a:solidFill>
            </a:endParaRPr>
          </a:p>
          <a:p>
            <a:r>
              <a:rPr lang="en-IN">
                <a:solidFill>
                  <a:schemeClr val="bg1">
                    <a:lumMod val="95000"/>
                  </a:schemeClr>
                </a:solidFill>
              </a:rPr>
              <a:t>Level 5 → Highest (~8277) </a:t>
            </a:r>
          </a:p>
          <a:p>
            <a:r>
              <a:rPr lang="en-IN">
                <a:solidFill>
                  <a:schemeClr val="bg1">
                    <a:lumMod val="95000"/>
                  </a:schemeClr>
                </a:solidFill>
              </a:rPr>
              <a:t>Level 4 → ~6832 </a:t>
            </a:r>
          </a:p>
          <a:p>
            <a:r>
              <a:rPr lang="en-IN">
                <a:solidFill>
                  <a:schemeClr val="bg1">
                    <a:lumMod val="95000"/>
                  </a:schemeClr>
                </a:solidFill>
              </a:rPr>
              <a:t>Level 3 → ~6517 </a:t>
            </a:r>
          </a:p>
          <a:p>
            <a:r>
              <a:rPr lang="en-IN">
                <a:solidFill>
                  <a:schemeClr val="bg1">
                    <a:lumMod val="95000"/>
                  </a:schemeClr>
                </a:solidFill>
              </a:rPr>
              <a:t>Level 2 → ~6226 </a:t>
            </a:r>
          </a:p>
          <a:p>
            <a:r>
              <a:rPr lang="en-IN">
                <a:solidFill>
                  <a:schemeClr val="bg1">
                    <a:lumMod val="95000"/>
                  </a:schemeClr>
                </a:solidFill>
              </a:rPr>
              <a:t>Level 1 → Lowest (~5640)</a:t>
            </a:r>
          </a:p>
        </p:txBody>
      </p:sp>
      <p:sp>
        <p:nvSpPr>
          <p:cNvPr id="3" name="TextBox 2">
            <a:extLst>
              <a:ext uri="{FF2B5EF4-FFF2-40B4-BE49-F238E27FC236}">
                <a16:creationId xmlns:a16="http://schemas.microsoft.com/office/drawing/2014/main" id="{3B3270B6-07F9-B5E6-A71E-CA94A2022DD5}"/>
              </a:ext>
            </a:extLst>
          </p:cNvPr>
          <p:cNvSpPr txBox="1"/>
          <p:nvPr/>
        </p:nvSpPr>
        <p:spPr>
          <a:xfrm>
            <a:off x="4694904" y="1047189"/>
            <a:ext cx="6735096" cy="1477328"/>
          </a:xfrm>
          <a:prstGeom prst="rect">
            <a:avLst/>
          </a:prstGeom>
          <a:noFill/>
        </p:spPr>
        <p:txBody>
          <a:bodyPr wrap="square" rtlCol="0">
            <a:spAutoFit/>
          </a:bodyPr>
          <a:lstStyle/>
          <a:p>
            <a:r>
              <a:rPr lang="en-IN" b="1">
                <a:solidFill>
                  <a:schemeClr val="bg1">
                    <a:lumMod val="95000"/>
                  </a:schemeClr>
                </a:solidFill>
              </a:rPr>
              <a:t>Insight:</a:t>
            </a:r>
            <a:endParaRPr lang="en-IN">
              <a:solidFill>
                <a:schemeClr val="bg1">
                  <a:lumMod val="95000"/>
                </a:schemeClr>
              </a:solidFill>
            </a:endParaRPr>
          </a:p>
          <a:p>
            <a:r>
              <a:rPr lang="en-IN">
                <a:solidFill>
                  <a:schemeClr val="bg1">
                    <a:lumMod val="95000"/>
                  </a:schemeClr>
                </a:solidFill>
              </a:rPr>
              <a:t>Strong positive correlation between </a:t>
            </a:r>
            <a:r>
              <a:rPr lang="en-IN" b="1">
                <a:solidFill>
                  <a:schemeClr val="bg1">
                    <a:lumMod val="95000"/>
                  </a:schemeClr>
                </a:solidFill>
              </a:rPr>
              <a:t>education and salary</a:t>
            </a:r>
            <a:r>
              <a:rPr lang="en-IN">
                <a:solidFill>
                  <a:schemeClr val="bg1">
                    <a:lumMod val="95000"/>
                  </a:schemeClr>
                </a:solidFill>
              </a:rPr>
              <a:t> </a:t>
            </a:r>
          </a:p>
          <a:p>
            <a:r>
              <a:rPr lang="en-IN">
                <a:solidFill>
                  <a:schemeClr val="bg1">
                    <a:lumMod val="95000"/>
                  </a:schemeClr>
                </a:solidFill>
              </a:rPr>
              <a:t>Higher education = higher earning potential </a:t>
            </a:r>
          </a:p>
          <a:p>
            <a:r>
              <a:rPr lang="en-IN">
                <a:solidFill>
                  <a:schemeClr val="bg1">
                    <a:lumMod val="95000"/>
                  </a:schemeClr>
                </a:solidFill>
              </a:rPr>
              <a:t>Supports investment in </a:t>
            </a:r>
            <a:r>
              <a:rPr lang="en-IN" b="1">
                <a:solidFill>
                  <a:schemeClr val="bg1">
                    <a:lumMod val="95000"/>
                  </a:schemeClr>
                </a:solidFill>
              </a:rPr>
              <a:t>employee upskilling programs</a:t>
            </a:r>
            <a:endParaRPr lang="en-IN">
              <a:solidFill>
                <a:schemeClr val="bg1">
                  <a:lumMod val="95000"/>
                </a:schemeClr>
              </a:solidFill>
            </a:endParaRPr>
          </a:p>
          <a:p>
            <a:endParaRPr lang="en-IN"/>
          </a:p>
        </p:txBody>
      </p:sp>
      <p:pic>
        <p:nvPicPr>
          <p:cNvPr id="4" name="Picture 3">
            <a:extLst>
              <a:ext uri="{FF2B5EF4-FFF2-40B4-BE49-F238E27FC236}">
                <a16:creationId xmlns:a16="http://schemas.microsoft.com/office/drawing/2014/main" id="{3D72DBCF-8DE8-F310-FAA6-6B34696C13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0877" y="2924932"/>
            <a:ext cx="7216878" cy="3790499"/>
          </a:xfrm>
          <a:prstGeom prst="rect">
            <a:avLst/>
          </a:prstGeom>
        </p:spPr>
      </p:pic>
    </p:spTree>
    <p:extLst>
      <p:ext uri="{BB962C8B-B14F-4D97-AF65-F5344CB8AC3E}">
        <p14:creationId xmlns:p14="http://schemas.microsoft.com/office/powerpoint/2010/main" val="413057885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1A56-A0E0-3E11-320B-537D29E875C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4E71623-9AF9-76EF-3EA1-62E18A7861CF}"/>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9E4A1FEA-D65A-A7CD-BCB8-433B470CFACA}"/>
              </a:ext>
            </a:extLst>
          </p:cNvPr>
          <p:cNvSpPr txBox="1"/>
          <p:nvPr/>
        </p:nvSpPr>
        <p:spPr>
          <a:xfrm>
            <a:off x="1061884" y="279666"/>
            <a:ext cx="9517626" cy="2862322"/>
          </a:xfrm>
          <a:prstGeom prst="rect">
            <a:avLst/>
          </a:prstGeom>
          <a:noFill/>
        </p:spPr>
        <p:txBody>
          <a:bodyPr wrap="square" rtlCol="0">
            <a:spAutoFit/>
          </a:bodyPr>
          <a:lstStyle/>
          <a:p>
            <a:pPr algn="ctr"/>
            <a:r>
              <a:rPr lang="en-IN" b="1">
                <a:solidFill>
                  <a:schemeClr val="bg1">
                    <a:lumMod val="95000"/>
                  </a:schemeClr>
                </a:solidFill>
              </a:rPr>
              <a:t>Q7. Which department has the most experienced employees on average?</a:t>
            </a:r>
          </a:p>
          <a:p>
            <a:pPr algn="ctr"/>
            <a:endParaRPr lang="en-IN" b="1">
              <a:solidFill>
                <a:schemeClr val="bg1">
                  <a:lumMod val="95000"/>
                </a:schemeClr>
              </a:solidFill>
            </a:endParaRPr>
          </a:p>
          <a:p>
            <a:r>
              <a:rPr lang="en-IN" b="1">
                <a:solidFill>
                  <a:schemeClr val="bg1">
                    <a:lumMod val="95000"/>
                  </a:schemeClr>
                </a:solidFill>
              </a:rPr>
              <a:t>Answer:</a:t>
            </a:r>
            <a:r>
              <a:rPr lang="en-IN">
                <a:solidFill>
                  <a:schemeClr val="bg1">
                    <a:lumMod val="95000"/>
                  </a:schemeClr>
                </a:solidFill>
              </a:rPr>
              <a:t> Sales (~7.28 years)</a:t>
            </a:r>
          </a:p>
          <a:p>
            <a:endParaRPr lang="en-IN" b="1">
              <a:solidFill>
                <a:schemeClr val="bg1">
                  <a:lumMod val="95000"/>
                </a:schemeClr>
              </a:solidFill>
            </a:endParaRPr>
          </a:p>
          <a:p>
            <a:r>
              <a:rPr lang="en-IN" b="1">
                <a:solidFill>
                  <a:schemeClr val="bg1">
                    <a:lumMod val="95000"/>
                  </a:schemeClr>
                </a:solidFill>
              </a:rPr>
              <a:t>Insight:</a:t>
            </a:r>
            <a:endParaRPr lang="en-IN">
              <a:solidFill>
                <a:schemeClr val="bg1">
                  <a:lumMod val="95000"/>
                </a:schemeClr>
              </a:solidFill>
            </a:endParaRPr>
          </a:p>
          <a:p>
            <a:r>
              <a:rPr lang="en-IN">
                <a:solidFill>
                  <a:schemeClr val="bg1">
                    <a:lumMod val="95000"/>
                  </a:schemeClr>
                </a:solidFill>
              </a:rPr>
              <a:t>Sales team has the </a:t>
            </a:r>
            <a:r>
              <a:rPr lang="en-IN" b="1">
                <a:solidFill>
                  <a:schemeClr val="bg1">
                    <a:lumMod val="95000"/>
                  </a:schemeClr>
                </a:solidFill>
              </a:rPr>
              <a:t>highest average tenure</a:t>
            </a:r>
            <a:r>
              <a:rPr lang="en-IN">
                <a:solidFill>
                  <a:schemeClr val="bg1">
                    <a:lumMod val="95000"/>
                  </a:schemeClr>
                </a:solidFill>
              </a:rPr>
              <a:t> </a:t>
            </a:r>
          </a:p>
          <a:p>
            <a:r>
              <a:rPr lang="en-IN">
                <a:solidFill>
                  <a:schemeClr val="bg1">
                    <a:lumMod val="95000"/>
                  </a:schemeClr>
                </a:solidFill>
              </a:rPr>
              <a:t>Indicates: </a:t>
            </a:r>
          </a:p>
          <a:p>
            <a:pPr lvl="1"/>
            <a:r>
              <a:rPr lang="en-IN">
                <a:solidFill>
                  <a:schemeClr val="bg1">
                    <a:lumMod val="95000"/>
                  </a:schemeClr>
                </a:solidFill>
              </a:rPr>
              <a:t>Strong retention OR </a:t>
            </a:r>
          </a:p>
          <a:p>
            <a:pPr lvl="1"/>
            <a:r>
              <a:rPr lang="en-IN">
                <a:solidFill>
                  <a:schemeClr val="bg1">
                    <a:lumMod val="95000"/>
                  </a:schemeClr>
                </a:solidFill>
              </a:rPr>
              <a:t>Experience-heavy roles </a:t>
            </a:r>
          </a:p>
          <a:p>
            <a:r>
              <a:rPr lang="en-IN">
                <a:solidFill>
                  <a:schemeClr val="bg1">
                    <a:lumMod val="95000"/>
                  </a:schemeClr>
                </a:solidFill>
              </a:rPr>
              <a:t>R&amp;D might have </a:t>
            </a:r>
            <a:r>
              <a:rPr lang="en-IN" b="1">
                <a:solidFill>
                  <a:schemeClr val="bg1">
                    <a:lumMod val="95000"/>
                  </a:schemeClr>
                </a:solidFill>
              </a:rPr>
              <a:t>higher turnover or younger employees</a:t>
            </a:r>
            <a:endParaRPr lang="en-IN">
              <a:solidFill>
                <a:schemeClr val="bg1">
                  <a:lumMod val="95000"/>
                </a:schemeClr>
              </a:solidFill>
            </a:endParaRPr>
          </a:p>
        </p:txBody>
      </p:sp>
      <p:pic>
        <p:nvPicPr>
          <p:cNvPr id="3" name="Picture 2">
            <a:extLst>
              <a:ext uri="{FF2B5EF4-FFF2-40B4-BE49-F238E27FC236}">
                <a16:creationId xmlns:a16="http://schemas.microsoft.com/office/drawing/2014/main" id="{A2D0D048-5273-09AA-5AF1-D9DE8224DE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953" y="3226115"/>
            <a:ext cx="7611757" cy="3489317"/>
          </a:xfrm>
          <a:prstGeom prst="rect">
            <a:avLst/>
          </a:prstGeom>
        </p:spPr>
      </p:pic>
    </p:spTree>
    <p:extLst>
      <p:ext uri="{BB962C8B-B14F-4D97-AF65-F5344CB8AC3E}">
        <p14:creationId xmlns:p14="http://schemas.microsoft.com/office/powerpoint/2010/main" val="353568156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6CB29-A900-490C-8CC9-6BB82BA455D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B29AEC1-3FAE-64B5-2415-6396AC6DA169}"/>
              </a:ext>
            </a:extLst>
          </p:cNvPr>
          <p:cNvSpPr/>
          <p:nvPr/>
        </p:nvSpPr>
        <p:spPr>
          <a:xfrm>
            <a:off x="0" y="0"/>
            <a:ext cx="12192000" cy="6858000"/>
          </a:xfrm>
          <a:prstGeom prst="rect">
            <a:avLst/>
          </a:prstGeom>
          <a:gradFill flip="none" rotWithShape="1">
            <a:gsLst>
              <a:gs pos="28000">
                <a:srgbClr val="326D7B"/>
              </a:gs>
              <a:gs pos="77000">
                <a:srgbClr val="5CAFC1"/>
              </a:gs>
              <a:gs pos="100000">
                <a:srgbClr val="5CAFC1"/>
              </a:gs>
              <a:gs pos="100000">
                <a:schemeClr val="accent1">
                  <a:lumMod val="30000"/>
                  <a:lumOff val="7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920C7537-43DD-C75C-169C-187EB7EC3AB5}"/>
              </a:ext>
            </a:extLst>
          </p:cNvPr>
          <p:cNvSpPr txBox="1"/>
          <p:nvPr/>
        </p:nvSpPr>
        <p:spPr>
          <a:xfrm>
            <a:off x="747252" y="452284"/>
            <a:ext cx="10785987" cy="4154984"/>
          </a:xfrm>
          <a:prstGeom prst="rect">
            <a:avLst/>
          </a:prstGeom>
          <a:noFill/>
        </p:spPr>
        <p:txBody>
          <a:bodyPr wrap="square" rtlCol="0">
            <a:spAutoFit/>
          </a:bodyPr>
          <a:lstStyle/>
          <a:p>
            <a:r>
              <a:rPr lang="en-IN" sz="2400" b="1">
                <a:solidFill>
                  <a:schemeClr val="bg1">
                    <a:lumMod val="95000"/>
                  </a:schemeClr>
                </a:solidFill>
              </a:rPr>
              <a:t>Recommendations</a:t>
            </a:r>
          </a:p>
          <a:p>
            <a:pPr marL="285750" indent="-285750">
              <a:buFont typeface="Arial" panose="020B0604020202020204" pitchFamily="34" charset="0"/>
              <a:buChar char="•"/>
            </a:pPr>
            <a:r>
              <a:rPr lang="en-IN">
                <a:solidFill>
                  <a:schemeClr val="bg1">
                    <a:lumMod val="95000"/>
                  </a:schemeClr>
                </a:solidFill>
              </a:rPr>
              <a:t>Improve </a:t>
            </a:r>
            <a:r>
              <a:rPr lang="en-IN" b="1">
                <a:solidFill>
                  <a:schemeClr val="bg1">
                    <a:lumMod val="95000"/>
                  </a:schemeClr>
                </a:solidFill>
              </a:rPr>
              <a:t>gender diversity in R&amp;D</a:t>
            </a:r>
            <a:r>
              <a:rPr lang="en-IN">
                <a:solidFill>
                  <a:schemeClr val="bg1">
                    <a:lumMod val="95000"/>
                  </a:schemeClr>
                </a:solidFill>
              </a:rPr>
              <a:t> </a:t>
            </a:r>
          </a:p>
          <a:p>
            <a:pPr marL="285750" indent="-285750">
              <a:buFont typeface="Arial" panose="020B0604020202020204" pitchFamily="34" charset="0"/>
              <a:buChar char="•"/>
            </a:pPr>
            <a:r>
              <a:rPr lang="en-IN">
                <a:solidFill>
                  <a:schemeClr val="bg1">
                    <a:lumMod val="95000"/>
                  </a:schemeClr>
                </a:solidFill>
              </a:rPr>
              <a:t>Expand HR team to handle employee lifecycle better </a:t>
            </a:r>
          </a:p>
          <a:p>
            <a:pPr marL="285750" indent="-285750">
              <a:buFont typeface="Arial" panose="020B0604020202020204" pitchFamily="34" charset="0"/>
              <a:buChar char="•"/>
            </a:pPr>
            <a:r>
              <a:rPr lang="en-IN">
                <a:solidFill>
                  <a:schemeClr val="bg1">
                    <a:lumMod val="95000"/>
                  </a:schemeClr>
                </a:solidFill>
              </a:rPr>
              <a:t>Create </a:t>
            </a:r>
            <a:r>
              <a:rPr lang="en-IN" b="1">
                <a:solidFill>
                  <a:schemeClr val="bg1">
                    <a:lumMod val="95000"/>
                  </a:schemeClr>
                </a:solidFill>
              </a:rPr>
              <a:t>career growth paths</a:t>
            </a:r>
            <a:r>
              <a:rPr lang="en-IN">
                <a:solidFill>
                  <a:schemeClr val="bg1">
                    <a:lumMod val="95000"/>
                  </a:schemeClr>
                </a:solidFill>
              </a:rPr>
              <a:t> to retain talent </a:t>
            </a:r>
          </a:p>
          <a:p>
            <a:pPr marL="285750" indent="-285750">
              <a:buFont typeface="Arial" panose="020B0604020202020204" pitchFamily="34" charset="0"/>
              <a:buChar char="•"/>
            </a:pPr>
            <a:r>
              <a:rPr lang="en-IN">
                <a:solidFill>
                  <a:schemeClr val="bg1">
                    <a:lumMod val="95000"/>
                  </a:schemeClr>
                </a:solidFill>
              </a:rPr>
              <a:t>Invest in </a:t>
            </a:r>
            <a:r>
              <a:rPr lang="en-IN" b="1">
                <a:solidFill>
                  <a:schemeClr val="bg1">
                    <a:lumMod val="95000"/>
                  </a:schemeClr>
                </a:solidFill>
              </a:rPr>
              <a:t>training &amp; education programs</a:t>
            </a:r>
            <a:r>
              <a:rPr lang="en-IN">
                <a:solidFill>
                  <a:schemeClr val="bg1">
                    <a:lumMod val="95000"/>
                  </a:schemeClr>
                </a:solidFill>
              </a:rPr>
              <a:t> </a:t>
            </a:r>
          </a:p>
          <a:p>
            <a:pPr marL="285750" indent="-285750">
              <a:buFont typeface="Arial" panose="020B0604020202020204" pitchFamily="34" charset="0"/>
              <a:buChar char="•"/>
            </a:pPr>
            <a:r>
              <a:rPr lang="en-IN">
                <a:solidFill>
                  <a:schemeClr val="bg1">
                    <a:lumMod val="95000"/>
                  </a:schemeClr>
                </a:solidFill>
              </a:rPr>
              <a:t>Monitor R&amp;D attrition closely </a:t>
            </a:r>
          </a:p>
          <a:p>
            <a:br>
              <a:rPr lang="en-IN">
                <a:solidFill>
                  <a:schemeClr val="bg1">
                    <a:lumMod val="95000"/>
                  </a:schemeClr>
                </a:solidFill>
              </a:rPr>
            </a:br>
            <a:endParaRPr lang="en-IN">
              <a:solidFill>
                <a:schemeClr val="bg1">
                  <a:lumMod val="95000"/>
                </a:schemeClr>
              </a:solidFill>
            </a:endParaRPr>
          </a:p>
          <a:p>
            <a:r>
              <a:rPr lang="en-IN" sz="2400" b="1">
                <a:solidFill>
                  <a:schemeClr val="bg1">
                    <a:lumMod val="95000"/>
                  </a:schemeClr>
                </a:solidFill>
              </a:rPr>
              <a:t>Conclusion</a:t>
            </a:r>
          </a:p>
          <a:p>
            <a:r>
              <a:rPr lang="en-IN">
                <a:solidFill>
                  <a:schemeClr val="bg1">
                    <a:lumMod val="95000"/>
                  </a:schemeClr>
                </a:solidFill>
              </a:rPr>
              <a:t>This analysis highlights critical workforce patterns in department distribution, salary structure, and experience levels. The company shows strong stability in Sales and structured salary growth, but needs improvement in HR capacity and diversity in technical roles. Data-driven HR strategies can significantly improve employee retention and organizational efficiency.</a:t>
            </a:r>
          </a:p>
          <a:p>
            <a:endParaRPr lang="en-IN"/>
          </a:p>
        </p:txBody>
      </p:sp>
    </p:spTree>
    <p:extLst>
      <p:ext uri="{BB962C8B-B14F-4D97-AF65-F5344CB8AC3E}">
        <p14:creationId xmlns:p14="http://schemas.microsoft.com/office/powerpoint/2010/main" val="143680243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537</Words>
  <Application>Microsoft Office PowerPoint</Application>
  <PresentationFormat>Widescreen</PresentationFormat>
  <Paragraphs>89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Berlin Sans FB Demi</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Chaithra Shree B</dc:creator>
  <cp:lastModifiedBy>Chaithra Shree B</cp:lastModifiedBy>
  <cp:revision>1</cp:revision>
  <dcterms:created xsi:type="dcterms:W3CDTF">2026-04-14T14:05:27Z</dcterms:created>
  <dcterms:modified xsi:type="dcterms:W3CDTF">2026-04-14T14:46:29Z</dcterms:modified>
</cp:coreProperties>
</file>